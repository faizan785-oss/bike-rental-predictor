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70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966960" y="640080"/>
            <a:ext cx="1097280" cy="1097280"/>
          </a:xfrm>
          <a:prstGeom prst="ellipse">
            <a:avLst/>
          </a:prstGeom>
          <a:solidFill>
            <a:srgbClr val="EE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652760" y="1143000"/>
            <a:ext cx="502920" cy="502920"/>
          </a:xfrm>
          <a:prstGeom prst="ellipse">
            <a:avLst/>
          </a:prstGeom>
          <a:solidFill>
            <a:srgbClr val="E8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098280" y="5257800"/>
            <a:ext cx="914400" cy="914400"/>
          </a:xfrm>
          <a:prstGeom prst="ellipse">
            <a:avLst/>
          </a:prstGeom>
          <a:solidFill>
            <a:srgbClr val="EE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510786"/>
            <a:ext cx="9144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/>
            </a:pPr>
            <a:r>
              <a:rPr dirty="0"/>
              <a:t>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425738"/>
            <a:ext cx="9326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2736"/>
                </a:solidFill>
                <a:latin typeface="Aptos Display"/>
              </a:defRPr>
            </a:pPr>
            <a:r>
              <a:rPr dirty="0"/>
              <a:t>Bike Rental Demand Prediction</a:t>
            </a:r>
          </a:p>
          <a:p>
            <a:pPr>
              <a:defRPr sz="1600">
                <a:solidFill>
                  <a:srgbClr val="14917D"/>
                </a:solidFill>
                <a:latin typeface="Aptos"/>
              </a:defRPr>
            </a:pPr>
            <a:r>
              <a:rPr dirty="0"/>
              <a:t>Machine Learning • Feature Engineering • </a:t>
            </a:r>
            <a:r>
              <a:rPr dirty="0" err="1"/>
              <a:t>Streamlit</a:t>
            </a:r>
            <a:r>
              <a:rPr dirty="0"/>
              <a:t>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18880"/>
            <a:ext cx="48463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0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1658209"/>
            <a:ext cx="64008" cy="1920240"/>
          </a:xfrm>
          <a:prstGeom prst="rect">
            <a:avLst/>
          </a:prstGeom>
          <a:solidFill>
            <a:srgbClr val="149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796745"/>
            <a:ext cx="4526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736"/>
                </a:solidFill>
                <a:latin typeface="Aptos"/>
              </a:defRPr>
            </a:pPr>
            <a:r>
              <a:rPr dirty="0"/>
              <a:t>Project 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151296"/>
            <a:ext cx="45262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4303A"/>
                </a:solidFill>
                <a:latin typeface="Aptos"/>
              </a:defRPr>
            </a:pPr>
            <a:r>
              <a:rPr sz="2000" dirty="0"/>
              <a:t>Predict hourly bike rental demand from time, weather, seasonal and working-day conditions, then expose the model through an interactive local web app.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00928" y="1645920"/>
            <a:ext cx="53035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0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80330" y="1658209"/>
            <a:ext cx="64008" cy="1920240"/>
          </a:xfrm>
          <a:prstGeom prst="rect">
            <a:avLst/>
          </a:prstGeom>
          <a:solidFill>
            <a:srgbClr val="37A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80760" y="1791682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736"/>
                </a:solidFill>
                <a:latin typeface="Aptos"/>
              </a:defRPr>
            </a:pPr>
            <a:r>
              <a:rPr dirty="0"/>
              <a:t>Technology Stack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18614" y="2329279"/>
            <a:ext cx="49834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4303A"/>
                </a:solidFill>
                <a:latin typeface="Aptos"/>
              </a:defRPr>
            </a:pPr>
            <a:r>
              <a:rPr sz="2000" dirty="0"/>
              <a:t>Python • Pandas • NumPy • Scikit-learn • Random Forest • </a:t>
            </a:r>
            <a:r>
              <a:rPr sz="2000" dirty="0" err="1"/>
              <a:t>Plotly</a:t>
            </a:r>
            <a:r>
              <a:rPr sz="2000" dirty="0"/>
              <a:t> • </a:t>
            </a:r>
            <a:r>
              <a:rPr sz="2000" dirty="0" err="1"/>
              <a:t>Streamlit</a:t>
            </a:r>
            <a:r>
              <a:rPr sz="2000" dirty="0"/>
              <a:t> • </a:t>
            </a:r>
            <a:r>
              <a:rPr sz="2000" dirty="0" err="1"/>
              <a:t>Joblib</a:t>
            </a:r>
            <a:r>
              <a:rPr sz="2000" dirty="0"/>
              <a:t>  </a:t>
            </a:r>
          </a:p>
        </p:txBody>
      </p:sp>
      <p:sp>
        <p:nvSpPr>
          <p:cNvPr id="17" name="Rounded Rectangle 6">
            <a:extLst>
              <a:ext uri="{FF2B5EF4-FFF2-40B4-BE49-F238E27FC236}">
                <a16:creationId xmlns:a16="http://schemas.microsoft.com/office/drawing/2014/main" id="{CA693B75-1F79-9C3D-079E-C85714B522A5}"/>
              </a:ext>
            </a:extLst>
          </p:cNvPr>
          <p:cNvSpPr/>
          <p:nvPr/>
        </p:nvSpPr>
        <p:spPr>
          <a:xfrm>
            <a:off x="822960" y="4050890"/>
            <a:ext cx="4846320" cy="2296324"/>
          </a:xfrm>
          <a:prstGeom prst="roundRect">
            <a:avLst/>
          </a:prstGeom>
          <a:solidFill>
            <a:srgbClr val="FFFFFF"/>
          </a:solidFill>
          <a:ln>
            <a:solidFill>
              <a:srgbClr val="E0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92CDE8-0A86-C4B8-BD70-2D7BA1E04C8C}"/>
              </a:ext>
            </a:extLst>
          </p:cNvPr>
          <p:cNvSpPr txBox="1"/>
          <p:nvPr/>
        </p:nvSpPr>
        <p:spPr>
          <a:xfrm>
            <a:off x="987552" y="4162403"/>
            <a:ext cx="74328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736"/>
                </a:solidFill>
                <a:latin typeface="Aptos"/>
              </a:defRPr>
            </a:pPr>
            <a:r>
              <a:rPr lang="en-US" dirty="0"/>
              <a:t>Team</a:t>
            </a:r>
            <a:endParaRPr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E9AA847-3FD7-A999-4D72-6E3AFBAC16C1}"/>
              </a:ext>
            </a:extLst>
          </p:cNvPr>
          <p:cNvSpPr txBox="1"/>
          <p:nvPr/>
        </p:nvSpPr>
        <p:spPr>
          <a:xfrm>
            <a:off x="982980" y="4583289"/>
            <a:ext cx="45262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4303A"/>
                </a:solidFill>
                <a:latin typeface="Aptos"/>
              </a:defRPr>
            </a:pPr>
            <a:r>
              <a:rPr lang="en-US" sz="1600" dirty="0"/>
              <a:t>RAHUL SALVI</a:t>
            </a:r>
          </a:p>
          <a:p>
            <a:pPr>
              <a:defRPr sz="1400">
                <a:solidFill>
                  <a:srgbClr val="24303A"/>
                </a:solidFill>
                <a:latin typeface="Aptos"/>
              </a:defRPr>
            </a:pPr>
            <a:r>
              <a:rPr lang="en-US" sz="1600" dirty="0"/>
              <a:t>MANTHAN SAGANE</a:t>
            </a:r>
          </a:p>
          <a:p>
            <a:pPr>
              <a:defRPr sz="1400">
                <a:solidFill>
                  <a:srgbClr val="24303A"/>
                </a:solidFill>
                <a:latin typeface="Aptos"/>
              </a:defRPr>
            </a:pPr>
            <a:r>
              <a:rPr lang="en-US" sz="1600" dirty="0"/>
              <a:t>GANESH </a:t>
            </a:r>
            <a:r>
              <a:rPr lang="en-IN" sz="1600" dirty="0">
                <a:solidFill>
                  <a:srgbClr val="24303A"/>
                </a:solidFill>
                <a:latin typeface="Aptos"/>
              </a:rPr>
              <a:t>MUSTAPURE</a:t>
            </a:r>
          </a:p>
          <a:p>
            <a:pPr>
              <a:defRPr sz="1400">
                <a:solidFill>
                  <a:srgbClr val="24303A"/>
                </a:solidFill>
                <a:latin typeface="Aptos"/>
              </a:defRPr>
            </a:pPr>
            <a:r>
              <a:rPr lang="en-IN" sz="1600" dirty="0">
                <a:solidFill>
                  <a:srgbClr val="24303A"/>
                </a:solidFill>
                <a:latin typeface="Aptos"/>
              </a:rPr>
              <a:t>DEVI KOSURU</a:t>
            </a:r>
          </a:p>
          <a:p>
            <a:pPr>
              <a:defRPr sz="1400">
                <a:solidFill>
                  <a:srgbClr val="24303A"/>
                </a:solidFill>
                <a:latin typeface="Aptos"/>
              </a:defRPr>
            </a:pPr>
            <a:r>
              <a:rPr lang="en-IN" sz="1600" dirty="0">
                <a:solidFill>
                  <a:srgbClr val="24303A"/>
                </a:solidFill>
                <a:latin typeface="Aptos"/>
              </a:rPr>
              <a:t>FAIZANULLAH ANSARI</a:t>
            </a:r>
          </a:p>
          <a:p>
            <a:pPr>
              <a:defRPr sz="1400">
                <a:solidFill>
                  <a:srgbClr val="24303A"/>
                </a:solidFill>
                <a:latin typeface="Aptos"/>
              </a:defRPr>
            </a:pPr>
            <a:r>
              <a:rPr lang="en-IN" sz="1600" dirty="0">
                <a:solidFill>
                  <a:srgbClr val="24303A"/>
                </a:solidFill>
                <a:latin typeface="Aptos"/>
              </a:rPr>
              <a:t>AMALNADH K</a:t>
            </a:r>
            <a:endParaRPr sz="16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8B0846E-2B0E-3520-C192-1CBA1315C090}"/>
              </a:ext>
            </a:extLst>
          </p:cNvPr>
          <p:cNvSpPr/>
          <p:nvPr/>
        </p:nvSpPr>
        <p:spPr>
          <a:xfrm>
            <a:off x="758952" y="4227079"/>
            <a:ext cx="64008" cy="1920240"/>
          </a:xfrm>
          <a:prstGeom prst="rect">
            <a:avLst/>
          </a:prstGeom>
          <a:solidFill>
            <a:srgbClr val="149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9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736"/>
                </a:solidFill>
                <a:latin typeface="Aptos Display"/>
              </a:defRPr>
            </a:pPr>
            <a:r>
              <a:t>1.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4183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C76"/>
                </a:solidFill>
                <a:latin typeface="Aptos"/>
              </a:defRPr>
            </a:pPr>
            <a:r>
              <a:t>From historical rental data to an actionable prediction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2240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536192"/>
            <a:ext cx="202082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4917D"/>
                </a:solidFill>
                <a:latin typeface="Aptos Display"/>
              </a:defRPr>
            </a:pPr>
            <a:r>
              <a:t>17,379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075688"/>
            <a:ext cx="2020824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5F6C76"/>
                </a:solidFill>
                <a:latin typeface="Aptos"/>
              </a:defRPr>
            </a:pPr>
            <a:r>
              <a:t>records in Dataset.csv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1417320"/>
            <a:ext cx="2240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64408" y="1536192"/>
            <a:ext cx="202082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37AFBE"/>
                </a:solidFill>
                <a:latin typeface="Aptos Display"/>
              </a:defRPr>
            </a:pPr>
            <a:r>
              <a:t>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4408" y="2075688"/>
            <a:ext cx="2020824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5F6C76"/>
                </a:solidFill>
                <a:latin typeface="Aptos"/>
              </a:defRPr>
            </a:pPr>
            <a:r>
              <a:t>final model features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23560" y="1417320"/>
            <a:ext cx="2240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33288" y="1536192"/>
            <a:ext cx="202082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34A87D"/>
                </a:solidFill>
                <a:latin typeface="Aptos Display"/>
              </a:defRPr>
            </a:pPr>
            <a:r>
              <a:t>94.6%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33288" y="2075688"/>
            <a:ext cx="2020824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5F6C76"/>
                </a:solidFill>
                <a:latin typeface="Aptos"/>
              </a:defRPr>
            </a:pPr>
            <a:r>
              <a:t>R² of Random Forest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417320"/>
            <a:ext cx="2240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00260" y="1536192"/>
            <a:ext cx="1024639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EC843E"/>
                </a:solidFill>
                <a:latin typeface="Aptos Display"/>
              </a:defRPr>
            </a:pPr>
            <a:r>
              <a:rPr dirty="0"/>
              <a:t>4</a:t>
            </a:r>
            <a:r>
              <a:rPr lang="en-US" dirty="0"/>
              <a:t>1</a:t>
            </a:r>
            <a:r>
              <a:rPr dirty="0"/>
              <a:t>.37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7" y="2075688"/>
            <a:ext cx="2020824" cy="5943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5F6C76"/>
                </a:solidFill>
                <a:latin typeface="Aptos"/>
              </a:defRPr>
            </a:pPr>
            <a:r>
              <a:t>RMSE (bike count)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154680"/>
            <a:ext cx="10607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defRPr sz="1700">
                <a:solidFill>
                  <a:srgbClr val="24303A"/>
                </a:solidFill>
                <a:latin typeface="Aptos"/>
              </a:defRPr>
            </a:pPr>
            <a:r>
              <a:rPr dirty="0"/>
              <a:t>•  The project analyzes hourly bike rental demand and identifies patterns across time, weather, seasons and working-day context.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700">
                <a:solidFill>
                  <a:srgbClr val="24303A"/>
                </a:solidFill>
                <a:latin typeface="Aptos"/>
              </a:defRPr>
            </a:pPr>
            <a:r>
              <a:rPr dirty="0"/>
              <a:t>•  The target is the total rental count (</a:t>
            </a:r>
            <a:r>
              <a:rPr dirty="0" err="1"/>
              <a:t>cnt</a:t>
            </a:r>
            <a:r>
              <a:rPr dirty="0"/>
              <a:t>), modeled after log1p transformation to reduce skew and the effect of extreme values.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700">
                <a:solidFill>
                  <a:srgbClr val="24303A"/>
                </a:solidFill>
                <a:latin typeface="Aptos"/>
              </a:defRPr>
            </a:pPr>
            <a:r>
              <a:rPr dirty="0"/>
              <a:t>•  A tuned Random Forest regression model is saved as </a:t>
            </a:r>
            <a:r>
              <a:rPr dirty="0" err="1"/>
              <a:t>model.pkl</a:t>
            </a:r>
            <a:r>
              <a:rPr dirty="0"/>
              <a:t> and used by the </a:t>
            </a:r>
            <a:r>
              <a:rPr dirty="0" err="1"/>
              <a:t>Streamlit</a:t>
            </a:r>
            <a:r>
              <a:rPr dirty="0"/>
              <a:t> application.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532120"/>
            <a:ext cx="1060704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E0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Rectangle 19"/>
          <p:cNvSpPr/>
          <p:nvPr/>
        </p:nvSpPr>
        <p:spPr>
          <a:xfrm>
            <a:off x="777240" y="5532120"/>
            <a:ext cx="64008" cy="594360"/>
          </a:xfrm>
          <a:prstGeom prst="rect">
            <a:avLst/>
          </a:prstGeom>
          <a:solidFill>
            <a:srgbClr val="149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1832" y="5650992"/>
            <a:ext cx="129407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736"/>
                </a:solidFill>
                <a:latin typeface="Aptos"/>
              </a:defRPr>
            </a:pPr>
            <a:r>
              <a:rPr sz="1600" dirty="0"/>
              <a:t>Project 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" y="5885571"/>
            <a:ext cx="10287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4303A"/>
                </a:solidFill>
                <a:latin typeface="Aptos"/>
              </a:defRPr>
            </a:pPr>
            <a:r>
              <a:rPr sz="1600" dirty="0"/>
              <a:t>Dataset → Cleaning → EDA → Feature Engineering → Encoding → Model Training → Tuning → Evaluation → </a:t>
            </a:r>
            <a:r>
              <a:rPr sz="1600" dirty="0" err="1"/>
              <a:t>Streamlit</a:t>
            </a:r>
            <a:r>
              <a:rPr sz="1600" dirty="0"/>
              <a:t> 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9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09024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736"/>
                </a:solidFill>
                <a:latin typeface="Aptos Display"/>
              </a:defRPr>
            </a:pPr>
            <a:r>
              <a:rPr lang="en-US" dirty="0"/>
              <a:t>2</a:t>
            </a:r>
            <a:r>
              <a:rPr dirty="0"/>
              <a:t>. Dataset &amp; Data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4183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C76"/>
                </a:solidFill>
                <a:latin typeface="Aptos"/>
              </a:defRPr>
            </a:pPr>
            <a:r>
              <a:t>Cleaning the raw 17,379 × 17 dataset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80160"/>
            <a:ext cx="2194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399031"/>
            <a:ext cx="197510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4917D"/>
                </a:solidFill>
                <a:latin typeface="Aptos Display"/>
              </a:defRPr>
            </a:pPr>
            <a:r>
              <a:t>17,379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938528"/>
            <a:ext cx="1975104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5F6C76"/>
                </a:solidFill>
                <a:latin typeface="Aptos"/>
              </a:defRPr>
            </a:pPr>
            <a:r>
              <a:t>rows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1280160"/>
            <a:ext cx="2194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72968" y="1399031"/>
            <a:ext cx="197510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37AFBE"/>
                </a:solidFill>
                <a:latin typeface="Aptos Display"/>
              </a:defRPr>
            </a:pPr>
            <a: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72968" y="1938528"/>
            <a:ext cx="1975104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5F6C76"/>
                </a:solidFill>
                <a:latin typeface="Aptos"/>
              </a:defRPr>
            </a:pPr>
            <a:r>
              <a:t>original columns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1280160"/>
            <a:ext cx="2194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550408" y="1399031"/>
            <a:ext cx="197510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34A87D"/>
                </a:solidFill>
                <a:latin typeface="Aptos Display"/>
              </a:defRPr>
            </a:pPr>
            <a: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50408" y="1938528"/>
            <a:ext cx="1975104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5F6C76"/>
                </a:solidFill>
                <a:latin typeface="Aptos"/>
              </a:defRPr>
            </a:pPr>
            <a:r>
              <a:t>duplicates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1280160"/>
            <a:ext cx="2194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27848" y="1399031"/>
            <a:ext cx="197510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EC843E"/>
                </a:solidFill>
                <a:latin typeface="Aptos Display"/>
              </a:defRPr>
            </a:pPr>
            <a:r>
              <a:t>505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7848" y="1938528"/>
            <a:ext cx="1975104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5F6C76"/>
                </a:solidFill>
                <a:latin typeface="Aptos"/>
              </a:defRPr>
            </a:pPr>
            <a:r>
              <a:t>cnt IQR outliers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274320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0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2743200"/>
            <a:ext cx="64008" cy="2240280"/>
          </a:xfrm>
          <a:prstGeom prst="rect">
            <a:avLst/>
          </a:prstGeom>
          <a:solidFill>
            <a:srgbClr val="149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2" y="2862072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2736"/>
                </a:solidFill>
                <a:latin typeface="Aptos"/>
              </a:defRPr>
            </a:pPr>
            <a:r>
              <a:t>Cleaning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3246120"/>
            <a:ext cx="3154679" cy="161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4303A"/>
                </a:solidFill>
                <a:latin typeface="Aptos"/>
              </a:defRPr>
            </a:pPr>
            <a:r>
              <a:rPr sz="1600" dirty="0"/>
              <a:t>• Replace '?' with </a:t>
            </a:r>
            <a:r>
              <a:rPr sz="1600" dirty="0" err="1"/>
              <a:t>NaN</a:t>
            </a:r>
            <a:br>
              <a:rPr sz="1600" dirty="0"/>
            </a:br>
            <a:r>
              <a:rPr sz="1600" dirty="0"/>
              <a:t>• Convert date to datetime</a:t>
            </a:r>
            <a:br>
              <a:rPr sz="1600" dirty="0"/>
            </a:br>
            <a:r>
              <a:rPr sz="1600" dirty="0"/>
              <a:t>• Convert numeric fields</a:t>
            </a:r>
            <a:br>
              <a:rPr sz="1600" dirty="0"/>
            </a:br>
            <a:r>
              <a:rPr sz="1600" dirty="0"/>
              <a:t>• Median fill for numeric missing values</a:t>
            </a:r>
            <a:br>
              <a:rPr sz="1600" dirty="0"/>
            </a:br>
            <a:r>
              <a:rPr sz="1600" dirty="0"/>
              <a:t>• Mode fill for categorical values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0832" y="2743200"/>
            <a:ext cx="347472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0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70832" y="2743200"/>
            <a:ext cx="64008" cy="2240280"/>
          </a:xfrm>
          <a:prstGeom prst="rect">
            <a:avLst/>
          </a:prstGeom>
          <a:solidFill>
            <a:srgbClr val="37A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35424" y="2862072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2736"/>
                </a:solidFill>
                <a:latin typeface="Aptos"/>
              </a:defRPr>
            </a:pPr>
            <a:r>
              <a:t>Target Preparation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35424" y="3246120"/>
            <a:ext cx="3154679" cy="161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4303A"/>
                </a:solidFill>
                <a:latin typeface="Aptos"/>
              </a:defRPr>
            </a:pPr>
            <a:r>
              <a:rPr sz="1600" dirty="0"/>
              <a:t>Target: </a:t>
            </a:r>
            <a:r>
              <a:rPr sz="1600" dirty="0" err="1"/>
              <a:t>cnt</a:t>
            </a:r>
            <a:br>
              <a:rPr sz="1600" dirty="0"/>
            </a:br>
            <a:br>
              <a:rPr sz="1600" dirty="0"/>
            </a:br>
            <a:r>
              <a:rPr sz="1600" dirty="0"/>
              <a:t>Create </a:t>
            </a:r>
            <a:r>
              <a:rPr sz="1600" dirty="0" err="1"/>
              <a:t>cnt_log</a:t>
            </a:r>
            <a:r>
              <a:rPr sz="1600" dirty="0"/>
              <a:t> = log1p(</a:t>
            </a:r>
            <a:r>
              <a:rPr sz="1600" dirty="0" err="1"/>
              <a:t>cnt</a:t>
            </a:r>
            <a:r>
              <a:rPr sz="1600" dirty="0"/>
              <a:t>)</a:t>
            </a:r>
            <a:br>
              <a:rPr sz="1600" dirty="0"/>
            </a:br>
            <a:br>
              <a:rPr sz="1600" dirty="0"/>
            </a:br>
            <a:r>
              <a:rPr sz="1600" dirty="0"/>
              <a:t>Skewness changed from 1.2774 to −0.8182 after transformation.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55864" y="2743200"/>
            <a:ext cx="3337560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0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055864" y="2743200"/>
            <a:ext cx="64008" cy="2240280"/>
          </a:xfrm>
          <a:prstGeom prst="rect">
            <a:avLst/>
          </a:prstGeom>
          <a:solidFill>
            <a:srgbClr val="EC8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20456" y="286207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2736"/>
                </a:solidFill>
                <a:latin typeface="Aptos"/>
              </a:defRPr>
            </a:pPr>
            <a:r>
              <a:t>Leakage 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0456" y="3246120"/>
            <a:ext cx="30175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4303A"/>
                </a:solidFill>
                <a:latin typeface="Aptos"/>
              </a:defRPr>
            </a:pPr>
            <a:r>
              <a:rPr sz="1600" dirty="0"/>
              <a:t>Remove </a:t>
            </a:r>
            <a:r>
              <a:rPr sz="1600" dirty="0" err="1"/>
              <a:t>cnt</a:t>
            </a:r>
            <a:r>
              <a:rPr sz="1600" dirty="0"/>
              <a:t>, </a:t>
            </a:r>
            <a:r>
              <a:rPr sz="1600" dirty="0" err="1"/>
              <a:t>cnt_log</a:t>
            </a:r>
            <a:r>
              <a:rPr sz="1600" dirty="0"/>
              <a:t>, casual and registered from predictors. Remove the identifier instant before modeling.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53212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defRPr sz="1500">
                <a:solidFill>
                  <a:srgbClr val="24303A"/>
                </a:solidFill>
                <a:latin typeface="Aptos"/>
              </a:defRPr>
            </a:pPr>
            <a:r>
              <a:t>•  Final modeling matrix: 17,379 rows × 36 features; no missing values remained.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9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46102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736"/>
                </a:solidFill>
                <a:latin typeface="Aptos Display"/>
              </a:defRPr>
            </a:pPr>
            <a:r>
              <a:rPr lang="en-US" dirty="0"/>
              <a:t>3</a:t>
            </a:r>
            <a:r>
              <a:rPr dirty="0"/>
              <a:t>. 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4183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C76"/>
                </a:solidFill>
                <a:latin typeface="Aptos"/>
              </a:defRPr>
            </a:pPr>
            <a:r>
              <a:t>Visual analysis used to understand demand drivers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0632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64008" cy="1508760"/>
          </a:xfrm>
          <a:prstGeom prst="rect">
            <a:avLst/>
          </a:prstGeom>
          <a:solidFill>
            <a:srgbClr val="149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44475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736"/>
                </a:solidFill>
                <a:latin typeface="Aptos"/>
              </a:defRPr>
            </a:pPr>
            <a:r>
              <a:t>Season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82880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4303A"/>
                </a:solidFill>
                <a:latin typeface="Aptos"/>
              </a:defRPr>
            </a:pPr>
            <a:r>
              <a:rPr sz="1600" dirty="0"/>
              <a:t>Average rentals by season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1325880"/>
            <a:ext cx="30632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069080" y="1325880"/>
            <a:ext cx="64008" cy="1508760"/>
          </a:xfrm>
          <a:prstGeom prst="rect">
            <a:avLst/>
          </a:prstGeom>
          <a:solidFill>
            <a:srgbClr val="149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33672" y="144475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736"/>
                </a:solidFill>
                <a:latin typeface="Aptos"/>
              </a:defRPr>
            </a:pPr>
            <a:r>
              <a:t>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33672" y="182880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4303A"/>
                </a:solidFill>
                <a:latin typeface="Aptos"/>
              </a:defRPr>
            </a:pPr>
            <a:r>
              <a:rPr sz="1600" dirty="0"/>
              <a:t>Monthly rental trend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1325880"/>
            <a:ext cx="30632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452360" y="1325880"/>
            <a:ext cx="64008" cy="1508760"/>
          </a:xfrm>
          <a:prstGeom prst="rect">
            <a:avLst/>
          </a:prstGeom>
          <a:solidFill>
            <a:srgbClr val="37A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16952" y="1444752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736"/>
                </a:solidFill>
                <a:latin typeface="Aptos"/>
              </a:defRPr>
            </a:pPr>
            <a:r>
              <a:t>Hour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6952" y="1828800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4303A"/>
                </a:solidFill>
                <a:latin typeface="Aptos"/>
              </a:defRPr>
            </a:pPr>
            <a:r>
              <a:rPr sz="1600" dirty="0">
                <a:solidFill>
                  <a:srgbClr val="24303A"/>
                </a:solidFill>
                <a:latin typeface="Aptos"/>
              </a:rPr>
              <a:t>Hourly</a:t>
            </a:r>
            <a:r>
              <a:rPr dirty="0"/>
              <a:t> </a:t>
            </a:r>
            <a:r>
              <a:rPr sz="1600" dirty="0"/>
              <a:t>rental trend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246120"/>
            <a:ext cx="30632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3246120"/>
            <a:ext cx="64008" cy="1508760"/>
          </a:xfrm>
          <a:prstGeom prst="rect">
            <a:avLst/>
          </a:prstGeom>
          <a:solidFill>
            <a:srgbClr val="149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2" y="3364991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736"/>
                </a:solidFill>
                <a:latin typeface="Aptos"/>
              </a:defRPr>
            </a:pPr>
            <a:r>
              <a:t>Weather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3749039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4303A"/>
                </a:solidFill>
                <a:latin typeface="Aptos"/>
              </a:defRPr>
            </a:pPr>
            <a:r>
              <a:rPr sz="1600" dirty="0"/>
              <a:t>Demand by weather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69080" y="3246120"/>
            <a:ext cx="30632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069080" y="3246120"/>
            <a:ext cx="64008" cy="1508760"/>
          </a:xfrm>
          <a:prstGeom prst="rect">
            <a:avLst/>
          </a:prstGeom>
          <a:solidFill>
            <a:srgbClr val="149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233672" y="3364991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736"/>
                </a:solidFill>
                <a:latin typeface="Aptos"/>
              </a:defRPr>
            </a:pPr>
            <a:r>
              <a:t>Working 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33672" y="3749039"/>
            <a:ext cx="2743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4303A"/>
                </a:solidFill>
                <a:latin typeface="Aptos"/>
              </a:defRPr>
            </a:pPr>
            <a:r>
              <a:rPr sz="1600" dirty="0"/>
              <a:t>Working vs non-working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52360" y="3246120"/>
            <a:ext cx="30632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452360" y="3246120"/>
            <a:ext cx="64008" cy="1508760"/>
          </a:xfrm>
          <a:prstGeom prst="rect">
            <a:avLst/>
          </a:prstGeom>
          <a:solidFill>
            <a:srgbClr val="149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16952" y="3364991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736"/>
                </a:solidFill>
                <a:latin typeface="Aptos"/>
              </a:defRPr>
            </a:pPr>
            <a:r>
              <a:t>Weather Factors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16952" y="3749039"/>
            <a:ext cx="2743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4303A"/>
                </a:solidFill>
                <a:latin typeface="Aptos"/>
              </a:defRPr>
            </a:pPr>
            <a:r>
              <a:rPr sz="1600" dirty="0"/>
              <a:t>Temp / humidity / windspeed vs demand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9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355103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736"/>
                </a:solidFill>
                <a:latin typeface="Aptos Display"/>
              </a:defRPr>
            </a:pPr>
            <a:r>
              <a:rPr lang="en-US" dirty="0"/>
              <a:t>4</a:t>
            </a:r>
            <a:r>
              <a:rPr dirty="0"/>
              <a:t>. 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4183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C76"/>
                </a:solidFill>
                <a:latin typeface="Aptos"/>
              </a:defRPr>
            </a:pPr>
            <a:r>
              <a:t>Turning raw fields into model-friendly signals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26060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0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64008" cy="1691640"/>
          </a:xfrm>
          <a:prstGeom prst="rect">
            <a:avLst/>
          </a:prstGeom>
          <a:solidFill>
            <a:srgbClr val="149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135331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736"/>
                </a:solidFill>
                <a:latin typeface="Aptos"/>
              </a:defRPr>
            </a:pPr>
            <a:r>
              <a:t>Calendar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737360"/>
            <a:ext cx="228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4303A"/>
                </a:solidFill>
                <a:latin typeface="Aptos"/>
              </a:defRPr>
            </a:pPr>
            <a:r>
              <a:rPr sz="1600" dirty="0"/>
              <a:t>day, </a:t>
            </a:r>
            <a:r>
              <a:rPr sz="1600" dirty="0" err="1"/>
              <a:t>weekofyear</a:t>
            </a:r>
            <a:r>
              <a:rPr sz="1600" dirty="0"/>
              <a:t>, yr, </a:t>
            </a:r>
            <a:r>
              <a:rPr sz="1600" dirty="0" err="1"/>
              <a:t>mnth</a:t>
            </a:r>
            <a:r>
              <a:rPr sz="1600" dirty="0"/>
              <a:t> </a:t>
            </a:r>
            <a:br>
              <a:rPr sz="1600" dirty="0"/>
            </a:br>
            <a:r>
              <a:rPr sz="1600" dirty="0"/>
              <a:t>Date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234440"/>
            <a:ext cx="26060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0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74720" y="1234440"/>
            <a:ext cx="64008" cy="1691640"/>
          </a:xfrm>
          <a:prstGeom prst="rect">
            <a:avLst/>
          </a:prstGeom>
          <a:solidFill>
            <a:srgbClr val="37A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39312" y="135331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736"/>
                </a:solidFill>
                <a:latin typeface="Aptos"/>
              </a:defRPr>
            </a:pPr>
            <a:r>
              <a:t>Demand timing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1737360"/>
            <a:ext cx="228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4303A"/>
                </a:solidFill>
                <a:latin typeface="Aptos"/>
              </a:defRPr>
            </a:pPr>
            <a:r>
              <a:rPr sz="1600" dirty="0" err="1"/>
              <a:t>hr</a:t>
            </a:r>
            <a:r>
              <a:rPr sz="1600" dirty="0"/>
              <a:t>, </a:t>
            </a:r>
            <a:r>
              <a:rPr sz="1600" dirty="0" err="1"/>
              <a:t>is_weekend</a:t>
            </a:r>
            <a:r>
              <a:rPr sz="1600" dirty="0"/>
              <a:t>, </a:t>
            </a:r>
            <a:r>
              <a:rPr sz="1600" dirty="0" err="1"/>
              <a:t>rush_hour</a:t>
            </a:r>
            <a:r>
              <a:rPr sz="1600" dirty="0"/>
              <a:t> </a:t>
            </a:r>
            <a:br>
              <a:rPr sz="1600" dirty="0"/>
            </a:br>
            <a:r>
              <a:rPr sz="1600" dirty="0"/>
              <a:t>Usage peaks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234440"/>
            <a:ext cx="26060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0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355080" y="1234440"/>
            <a:ext cx="64008" cy="1691640"/>
          </a:xfrm>
          <a:prstGeom prst="rect">
            <a:avLst/>
          </a:prstGeom>
          <a:solidFill>
            <a:srgbClr val="34A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19672" y="135331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736"/>
                </a:solidFill>
                <a:latin typeface="Aptos"/>
              </a:defRPr>
            </a:pPr>
            <a:r>
              <a:t>Time cycles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1737360"/>
            <a:ext cx="228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4303A"/>
                </a:solidFill>
                <a:latin typeface="Aptos"/>
              </a:defRPr>
            </a:pPr>
            <a:r>
              <a:rPr sz="1600" dirty="0" err="1"/>
              <a:t>hr_sin</a:t>
            </a:r>
            <a:r>
              <a:rPr sz="1600" dirty="0"/>
              <a:t>, </a:t>
            </a:r>
            <a:r>
              <a:rPr sz="1600" dirty="0" err="1"/>
              <a:t>hr_cos</a:t>
            </a:r>
            <a:r>
              <a:rPr sz="1600" dirty="0"/>
              <a:t> </a:t>
            </a:r>
            <a:br>
              <a:rPr sz="1600" dirty="0"/>
            </a:br>
            <a:r>
              <a:rPr sz="1600" dirty="0"/>
              <a:t>23:00 close to 00:00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234440"/>
            <a:ext cx="26060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0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235440" y="1234440"/>
            <a:ext cx="64008" cy="1691640"/>
          </a:xfrm>
          <a:prstGeom prst="rect">
            <a:avLst/>
          </a:prstGeom>
          <a:solidFill>
            <a:srgbClr val="EC8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00032" y="135331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736"/>
                </a:solidFill>
                <a:latin typeface="Aptos"/>
              </a:defRPr>
            </a:pPr>
            <a:r>
              <a:t>Season cycles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0032" y="1737360"/>
            <a:ext cx="228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4303A"/>
                </a:solidFill>
                <a:latin typeface="Aptos"/>
              </a:defRPr>
            </a:pPr>
            <a:r>
              <a:rPr sz="1600" dirty="0" err="1"/>
              <a:t>month_sin</a:t>
            </a:r>
            <a:r>
              <a:rPr sz="1600" dirty="0"/>
              <a:t>, </a:t>
            </a:r>
            <a:r>
              <a:rPr sz="1600" dirty="0" err="1"/>
              <a:t>month_cos</a:t>
            </a:r>
            <a:r>
              <a:rPr sz="1600" dirty="0"/>
              <a:t> </a:t>
            </a:r>
            <a:br>
              <a:rPr sz="1600" dirty="0"/>
            </a:br>
            <a:r>
              <a:rPr sz="1600" dirty="0"/>
              <a:t>Yearly periodicity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383280"/>
            <a:ext cx="26060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0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4360" y="3383280"/>
            <a:ext cx="64008" cy="1691640"/>
          </a:xfrm>
          <a:prstGeom prst="rect">
            <a:avLst/>
          </a:prstGeom>
          <a:solidFill>
            <a:srgbClr val="149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8952" y="350215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736"/>
                </a:solidFill>
                <a:latin typeface="Aptos"/>
              </a:defRPr>
            </a:pPr>
            <a:r>
              <a:t>Week cycles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" y="3886200"/>
            <a:ext cx="228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4303A"/>
                </a:solidFill>
                <a:latin typeface="Aptos"/>
              </a:defRPr>
            </a:pPr>
            <a:r>
              <a:rPr sz="1600" dirty="0" err="1"/>
              <a:t>weekday_sin</a:t>
            </a:r>
            <a:r>
              <a:rPr sz="1600" dirty="0"/>
              <a:t>, </a:t>
            </a:r>
            <a:r>
              <a:rPr sz="1600" dirty="0" err="1"/>
              <a:t>weekday_cos</a:t>
            </a:r>
            <a:r>
              <a:rPr sz="1600" dirty="0"/>
              <a:t> </a:t>
            </a:r>
            <a:br>
              <a:rPr sz="1600" dirty="0"/>
            </a:br>
            <a:r>
              <a:rPr sz="1600" dirty="0"/>
              <a:t>Weekly periodicity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4720" y="3383280"/>
            <a:ext cx="26060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0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474720" y="3383280"/>
            <a:ext cx="64008" cy="1691640"/>
          </a:xfrm>
          <a:prstGeom prst="rect">
            <a:avLst/>
          </a:prstGeom>
          <a:solidFill>
            <a:srgbClr val="37A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39312" y="350215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736"/>
                </a:solidFill>
                <a:latin typeface="Aptos"/>
              </a:defRPr>
            </a:pPr>
            <a:r>
              <a:t>Weather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39312" y="3886200"/>
            <a:ext cx="228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4303A"/>
                </a:solidFill>
                <a:latin typeface="Aptos"/>
              </a:defRPr>
            </a:pPr>
            <a:r>
              <a:rPr sz="1600" dirty="0"/>
              <a:t>temp, </a:t>
            </a:r>
            <a:r>
              <a:rPr sz="1600" dirty="0" err="1"/>
              <a:t>atemp</a:t>
            </a:r>
            <a:r>
              <a:rPr sz="1600" dirty="0"/>
              <a:t>, hum, windspeed </a:t>
            </a:r>
            <a:br>
              <a:rPr sz="1600" dirty="0"/>
            </a:br>
            <a:r>
              <a:rPr sz="1600" dirty="0"/>
              <a:t>Environmental effect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55080" y="3383280"/>
            <a:ext cx="26060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0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355080" y="3383280"/>
            <a:ext cx="64008" cy="1691640"/>
          </a:xfrm>
          <a:prstGeom prst="rect">
            <a:avLst/>
          </a:prstGeom>
          <a:solidFill>
            <a:srgbClr val="34A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19672" y="350215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736"/>
                </a:solidFill>
                <a:latin typeface="Aptos"/>
              </a:defRPr>
            </a:pPr>
            <a:r>
              <a:t>Derived weather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9672" y="3886200"/>
            <a:ext cx="228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4303A"/>
                </a:solidFill>
                <a:latin typeface="Aptos"/>
              </a:defRPr>
            </a:pPr>
            <a:r>
              <a:rPr sz="1600" dirty="0" err="1"/>
              <a:t>temp_difference</a:t>
            </a:r>
            <a:r>
              <a:rPr sz="1600" dirty="0"/>
              <a:t>, </a:t>
            </a:r>
            <a:r>
              <a:rPr sz="1600" dirty="0" err="1"/>
              <a:t>comfort_index</a:t>
            </a:r>
            <a:r>
              <a:rPr sz="1600" dirty="0"/>
              <a:t> </a:t>
            </a:r>
            <a:br>
              <a:rPr sz="1600" dirty="0"/>
            </a:br>
            <a:r>
              <a:rPr sz="1600" dirty="0"/>
              <a:t>Comfort signal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35440" y="3383280"/>
            <a:ext cx="260604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0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235440" y="3383280"/>
            <a:ext cx="64008" cy="1691640"/>
          </a:xfrm>
          <a:prstGeom prst="rect">
            <a:avLst/>
          </a:prstGeom>
          <a:solidFill>
            <a:srgbClr val="EC8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400032" y="3502152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736"/>
                </a:solidFill>
                <a:latin typeface="Aptos"/>
              </a:defRPr>
            </a:pPr>
            <a:r>
              <a:t>Categoricals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00032" y="3886200"/>
            <a:ext cx="228600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4303A"/>
                </a:solidFill>
                <a:latin typeface="Aptos"/>
              </a:defRPr>
            </a:pPr>
            <a:r>
              <a:rPr sz="1600" dirty="0"/>
              <a:t>season, holiday, </a:t>
            </a:r>
            <a:r>
              <a:rPr sz="1600" dirty="0" err="1"/>
              <a:t>workingday</a:t>
            </a:r>
            <a:r>
              <a:rPr sz="1600" dirty="0"/>
              <a:t>, weather, </a:t>
            </a:r>
            <a:r>
              <a:rPr sz="1600" dirty="0" err="1"/>
              <a:t>time_of_day</a:t>
            </a:r>
            <a:r>
              <a:rPr sz="1600" dirty="0"/>
              <a:t> </a:t>
            </a:r>
            <a:br>
              <a:rPr sz="1600" dirty="0"/>
            </a:br>
            <a:r>
              <a:rPr sz="1600" dirty="0"/>
              <a:t>One-hot encoded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9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00592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736"/>
                </a:solidFill>
                <a:latin typeface="Aptos Display"/>
              </a:defRPr>
            </a:pPr>
            <a:r>
              <a:rPr lang="en-US" dirty="0"/>
              <a:t>5</a:t>
            </a:r>
            <a:r>
              <a:rPr dirty="0"/>
              <a:t>. Proposed System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4183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C76"/>
                </a:solidFill>
                <a:latin typeface="Aptos"/>
              </a:defRPr>
            </a:pPr>
            <a:r>
              <a:t>End-to-end architecture from user input to prediction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65960"/>
            <a:ext cx="17373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91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2736"/>
                </a:solidFill>
                <a:latin typeface="Aptos"/>
              </a:defRPr>
            </a:pPr>
            <a:r>
              <a:t>User Inputs</a:t>
            </a:r>
            <a:br/>
            <a:br/>
            <a:r>
              <a:t>Date • hour • weekday • season</a:t>
            </a:r>
            <a:br/>
            <a:r>
              <a:t>holiday • working day • weather</a:t>
            </a:r>
            <a:br/>
            <a:r>
              <a:t>normalized weather factors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40280" y="2971800"/>
            <a:ext cx="274320" cy="0"/>
          </a:xfrm>
          <a:prstGeom prst="line">
            <a:avLst/>
          </a:prstGeom>
          <a:ln w="25400">
            <a:solidFill>
              <a:srgbClr val="149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514600" y="1965960"/>
            <a:ext cx="17373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A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2736"/>
                </a:solidFill>
                <a:latin typeface="Aptos"/>
              </a:defRPr>
            </a:pPr>
            <a:r>
              <a:t>Feature Builder</a:t>
            </a:r>
            <a:br/>
            <a:br/>
            <a:r>
              <a:t>Calendar features</a:t>
            </a:r>
            <a:br/>
            <a:r>
              <a:t>Cyclical encodings</a:t>
            </a:r>
            <a:br/>
            <a:r>
              <a:t>Rush hour / weekend</a:t>
            </a:r>
            <a:br/>
            <a:r>
              <a:t>Comfort index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251960" y="2971800"/>
            <a:ext cx="274320" cy="0"/>
          </a:xfrm>
          <a:prstGeom prst="line">
            <a:avLst/>
          </a:prstGeom>
          <a:ln w="25400">
            <a:solidFill>
              <a:srgbClr val="149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526280" y="1965960"/>
            <a:ext cx="17373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491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2736"/>
                </a:solidFill>
                <a:latin typeface="Aptos"/>
              </a:defRPr>
            </a:pPr>
            <a:r>
              <a:t>Encoding</a:t>
            </a:r>
            <a:br/>
            <a:br/>
            <a:r>
              <a:t>OneHotEncoder</a:t>
            </a:r>
            <a:br/>
            <a:r>
              <a:t>Categorical → numeric</a:t>
            </a:r>
            <a:br/>
            <a:r>
              <a:t>36 final features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263640" y="2971800"/>
            <a:ext cx="274320" cy="0"/>
          </a:xfrm>
          <a:prstGeom prst="line">
            <a:avLst/>
          </a:prstGeom>
          <a:ln w="25400">
            <a:solidFill>
              <a:srgbClr val="149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537960" y="1965960"/>
            <a:ext cx="17373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A8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2736"/>
                </a:solidFill>
                <a:latin typeface="Aptos"/>
              </a:defRPr>
            </a:pPr>
            <a:r>
              <a:t>ML Model</a:t>
            </a:r>
            <a:br/>
            <a:br/>
            <a:r>
              <a:t>Tuned Random Forest</a:t>
            </a:r>
            <a:br/>
            <a:r>
              <a:t>Regression on log1p(cnt)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275320" y="2971800"/>
            <a:ext cx="274320" cy="0"/>
          </a:xfrm>
          <a:prstGeom prst="line">
            <a:avLst/>
          </a:prstGeom>
          <a:ln w="25400">
            <a:solidFill>
              <a:srgbClr val="149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549640" y="1965960"/>
            <a:ext cx="13258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C84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2736"/>
                </a:solidFill>
                <a:latin typeface="Aptos"/>
              </a:defRPr>
            </a:pPr>
            <a:r>
              <a:t>Prediction</a:t>
            </a:r>
            <a:br/>
            <a:br/>
            <a:r>
              <a:t>expm1(log prediction)</a:t>
            </a:r>
            <a:br/>
            <a:r>
              <a:t>Non-negative rounded demand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875519" y="2971800"/>
            <a:ext cx="228601" cy="0"/>
          </a:xfrm>
          <a:prstGeom prst="line">
            <a:avLst/>
          </a:prstGeom>
          <a:ln w="25400">
            <a:solidFill>
              <a:srgbClr val="1491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104120" y="1965960"/>
            <a:ext cx="16002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7A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2736"/>
                </a:solidFill>
                <a:latin typeface="Aptos"/>
              </a:defRPr>
            </a:pPr>
            <a:r>
              <a:t>Dashboard</a:t>
            </a:r>
            <a:br/>
            <a:br/>
            <a:r>
              <a:t>Streamlit result</a:t>
            </a:r>
            <a:br/>
            <a:r>
              <a:t>Feature importance</a:t>
            </a:r>
            <a:br/>
            <a:r>
              <a:t>Condition charts</a:t>
            </a:r>
            <a:br/>
            <a:r>
              <a:t>Optional Gemini insight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94560" y="4709160"/>
            <a:ext cx="78638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0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194560" y="4709160"/>
            <a:ext cx="64008" cy="868680"/>
          </a:xfrm>
          <a:prstGeom prst="rect">
            <a:avLst/>
          </a:prstGeom>
          <a:solidFill>
            <a:srgbClr val="149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359152" y="4828032"/>
            <a:ext cx="7543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736"/>
                </a:solidFill>
                <a:latin typeface="Aptos"/>
              </a:defRPr>
            </a:pPr>
            <a:r>
              <a:t>Inference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59152" y="5212080"/>
            <a:ext cx="754380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4303A"/>
                </a:solidFill>
                <a:latin typeface="Aptos"/>
              </a:defRPr>
            </a:pPr>
            <a:r>
              <a:t>The deployed app recreates the same engineered feature order expected by model.pkl before calling model.predict().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9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79875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736"/>
                </a:solidFill>
                <a:latin typeface="Aptos Display"/>
              </a:defRPr>
            </a:pPr>
            <a:r>
              <a:rPr lang="en-US" dirty="0"/>
              <a:t>6</a:t>
            </a:r>
            <a:r>
              <a:rPr dirty="0"/>
              <a:t>. Algorithms &amp; Model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4183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C76"/>
                </a:solidFill>
                <a:latin typeface="Aptos"/>
              </a:defRPr>
            </a:pPr>
            <a:r>
              <a:t>Three regression models were compared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4747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0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64008" cy="2148840"/>
          </a:xfrm>
          <a:prstGeom prst="rect">
            <a:avLst/>
          </a:prstGeom>
          <a:solidFill>
            <a:srgbClr val="EC8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444752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736"/>
                </a:solidFill>
                <a:latin typeface="Aptos"/>
              </a:defRPr>
            </a:pPr>
            <a:r>
              <a:t>Decision Tree Regressor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828800"/>
            <a:ext cx="315467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4303A"/>
                </a:solidFill>
                <a:latin typeface="Aptos"/>
              </a:defRPr>
            </a:pPr>
            <a:r>
              <a:rPr sz="1600" dirty="0"/>
              <a:t>Single tree model</a:t>
            </a:r>
            <a:br>
              <a:rPr sz="1600" dirty="0"/>
            </a:br>
            <a:r>
              <a:rPr sz="1600" dirty="0"/>
              <a:t>• </a:t>
            </a:r>
            <a:r>
              <a:rPr sz="1600" dirty="0" err="1"/>
              <a:t>max_depth</a:t>
            </a:r>
            <a:r>
              <a:rPr sz="1600" dirty="0"/>
              <a:t> = 10 (baseline)</a:t>
            </a:r>
            <a:br>
              <a:rPr sz="1600" dirty="0"/>
            </a:br>
            <a:r>
              <a:rPr sz="1600" dirty="0"/>
              <a:t>• Easy to interpret</a:t>
            </a:r>
            <a:br>
              <a:rPr sz="1600" dirty="0"/>
            </a:br>
            <a:r>
              <a:rPr sz="1600" dirty="0"/>
              <a:t>• More variance than ensembles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325880"/>
            <a:ext cx="34747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0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70832" y="1325880"/>
            <a:ext cx="64008" cy="2148840"/>
          </a:xfrm>
          <a:prstGeom prst="rect">
            <a:avLst/>
          </a:prstGeom>
          <a:solidFill>
            <a:srgbClr val="149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35424" y="1444752"/>
            <a:ext cx="31546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736"/>
                </a:solidFill>
                <a:latin typeface="Aptos"/>
              </a:defRPr>
            </a:pPr>
            <a:r>
              <a:t>Random Forest Regressor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1828800"/>
            <a:ext cx="315467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4303A"/>
                </a:solidFill>
                <a:latin typeface="Aptos"/>
              </a:defRPr>
            </a:pPr>
            <a:r>
              <a:rPr sz="1600" dirty="0"/>
              <a:t>Ensemble of decision trees</a:t>
            </a:r>
            <a:br>
              <a:rPr sz="1600" dirty="0"/>
            </a:br>
            <a:r>
              <a:rPr sz="1600" dirty="0"/>
              <a:t>• captures non-linear interactions</a:t>
            </a:r>
            <a:br>
              <a:rPr sz="1600" dirty="0"/>
            </a:br>
            <a:r>
              <a:rPr sz="1600" dirty="0"/>
              <a:t>• robust and high-performing</a:t>
            </a:r>
            <a:br>
              <a:rPr sz="1600" dirty="0"/>
            </a:br>
            <a:r>
              <a:rPr sz="1600" dirty="0"/>
              <a:t>• selected as best model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1325880"/>
            <a:ext cx="333756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0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55864" y="1325880"/>
            <a:ext cx="64008" cy="2148840"/>
          </a:xfrm>
          <a:prstGeom prst="rect">
            <a:avLst/>
          </a:prstGeom>
          <a:solidFill>
            <a:srgbClr val="37A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0456" y="1444752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736"/>
                </a:solidFill>
                <a:latin typeface="Aptos"/>
              </a:defRPr>
            </a:pPr>
            <a:r>
              <a:t>Gradient Boosting Regressor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0456" y="1828800"/>
            <a:ext cx="30175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4303A"/>
                </a:solidFill>
                <a:latin typeface="Aptos"/>
              </a:defRPr>
            </a:pPr>
            <a:r>
              <a:rPr sz="1600" dirty="0"/>
              <a:t>Sequential boosting approach</a:t>
            </a:r>
            <a:br>
              <a:rPr sz="1600" dirty="0"/>
            </a:br>
            <a:r>
              <a:rPr sz="1600" dirty="0"/>
              <a:t>• strong non-linear learner</a:t>
            </a:r>
            <a:br>
              <a:rPr sz="1600" dirty="0"/>
            </a:br>
            <a:r>
              <a:rPr sz="1600" dirty="0"/>
              <a:t>• competitive with Random Forest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88620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defRPr sz="1600">
                <a:solidFill>
                  <a:srgbClr val="24303A"/>
                </a:solidFill>
                <a:latin typeface="Aptos"/>
              </a:defRPr>
            </a:pPr>
            <a:r>
              <a:rPr dirty="0"/>
              <a:t>•  Train/test split: 80/20 with </a:t>
            </a:r>
            <a:r>
              <a:rPr dirty="0" err="1"/>
              <a:t>random_state</a:t>
            </a:r>
            <a:r>
              <a:rPr dirty="0"/>
              <a:t>=42.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600">
                <a:solidFill>
                  <a:srgbClr val="24303A"/>
                </a:solidFill>
                <a:latin typeface="Aptos"/>
              </a:defRPr>
            </a:pPr>
            <a:r>
              <a:rPr dirty="0"/>
              <a:t>•  Training set: 13,903 rows × 36 features.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600">
                <a:solidFill>
                  <a:srgbClr val="24303A"/>
                </a:solidFill>
                <a:latin typeface="Aptos"/>
              </a:defRPr>
            </a:pPr>
            <a:r>
              <a:rPr dirty="0"/>
              <a:t>•  Testing set: 3,476 rows × 36 features.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600">
                <a:solidFill>
                  <a:srgbClr val="24303A"/>
                </a:solidFill>
                <a:latin typeface="Aptos"/>
              </a:defRPr>
            </a:pPr>
            <a:r>
              <a:rPr dirty="0"/>
              <a:t>•  Models learn the log-transformed target; evaluation converts predictions back to bike counts.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9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11240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736"/>
                </a:solidFill>
                <a:latin typeface="Aptos Display"/>
              </a:defRPr>
            </a:pPr>
            <a:r>
              <a:rPr lang="en-US" dirty="0"/>
              <a:t>7</a:t>
            </a:r>
            <a:r>
              <a:rPr dirty="0"/>
              <a:t>. Hyperparameter Tuning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4183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C76"/>
                </a:solidFill>
                <a:latin typeface="Aptos"/>
              </a:defRPr>
            </a:pPr>
            <a:r>
              <a:t>GridSearchCV used to select stronger model settings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5417957"/>
              </p:ext>
            </p:extLst>
          </p:nvPr>
        </p:nvGraphicFramePr>
        <p:xfrm>
          <a:off x="685800" y="1417320"/>
          <a:ext cx="107899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12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600"/>
                        <a:t>Model</a:t>
                      </a:r>
                    </a:p>
                  </a:txBody>
                  <a:tcPr marL="64008" marR="64008" marT="36576" marB="36576">
                    <a:solidFill>
                      <a:srgbClr val="0F27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sz="1600"/>
                        <a:t>Best parameters from tuning</a:t>
                      </a:r>
                    </a:p>
                  </a:txBody>
                  <a:tcPr marL="64008" marR="64008" marT="36576" marB="36576">
                    <a:solidFill>
                      <a:srgbClr val="0F27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4303A"/>
                          </a:solidFill>
                          <a:latin typeface="Aptos"/>
                        </a:defRPr>
                      </a:pPr>
                      <a:r>
                        <a:rPr sz="1600"/>
                        <a:t>Decision Tree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4303A"/>
                          </a:solidFill>
                          <a:latin typeface="Aptos"/>
                        </a:defRPr>
                      </a:pPr>
                      <a:r>
                        <a:rPr sz="1600" dirty="0" err="1"/>
                        <a:t>max_depth</a:t>
                      </a:r>
                      <a:r>
                        <a:rPr sz="1600" dirty="0"/>
                        <a:t>=15; </a:t>
                      </a:r>
                      <a:r>
                        <a:rPr sz="1600" dirty="0" err="1"/>
                        <a:t>min_samples_leaf</a:t>
                      </a:r>
                      <a:r>
                        <a:rPr sz="1600" dirty="0"/>
                        <a:t>=4; </a:t>
                      </a:r>
                      <a:r>
                        <a:rPr sz="1600" dirty="0" err="1"/>
                        <a:t>min_samples_split</a:t>
                      </a:r>
                      <a:r>
                        <a:rPr sz="1600" dirty="0"/>
                        <a:t>=10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4303A"/>
                          </a:solidFill>
                          <a:latin typeface="Aptos"/>
                        </a:defRPr>
                      </a:pPr>
                      <a:r>
                        <a:rPr sz="1600"/>
                        <a:t>Random Forest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4303A"/>
                          </a:solidFill>
                          <a:latin typeface="Aptos"/>
                        </a:defRPr>
                      </a:pPr>
                      <a:r>
                        <a:rPr sz="1600"/>
                        <a:t>n_estimators=100; max_depth=15; min_samples_split=2; min_samples_leaf=1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4303A"/>
                          </a:solidFill>
                          <a:latin typeface="Aptos"/>
                        </a:defRPr>
                      </a:pPr>
                      <a:r>
                        <a:rPr sz="1600" dirty="0"/>
                        <a:t>Gradient Boosting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4303A"/>
                          </a:solidFill>
                          <a:latin typeface="Aptos"/>
                        </a:defRPr>
                      </a:pPr>
                      <a:r>
                        <a:rPr sz="1600" dirty="0" err="1"/>
                        <a:t>n_estimators</a:t>
                      </a:r>
                      <a:r>
                        <a:rPr sz="1600" dirty="0"/>
                        <a:t>=100; </a:t>
                      </a:r>
                      <a:r>
                        <a:rPr sz="1600" dirty="0" err="1"/>
                        <a:t>learning_rate</a:t>
                      </a:r>
                      <a:r>
                        <a:rPr sz="1600" dirty="0"/>
                        <a:t>=0.1; </a:t>
                      </a:r>
                      <a:r>
                        <a:rPr sz="1600" dirty="0" err="1"/>
                        <a:t>max_depth</a:t>
                      </a:r>
                      <a:r>
                        <a:rPr sz="1600" dirty="0"/>
                        <a:t>=3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85800" y="3977639"/>
            <a:ext cx="51663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3977639"/>
            <a:ext cx="64008" cy="1417320"/>
          </a:xfrm>
          <a:prstGeom prst="rect">
            <a:avLst/>
          </a:prstGeom>
          <a:solidFill>
            <a:srgbClr val="149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4096511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2736"/>
                </a:solidFill>
                <a:latin typeface="Aptos"/>
              </a:defRPr>
            </a:pPr>
            <a:r>
              <a:t>Cross-validation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4480559"/>
            <a:ext cx="48463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4303A"/>
                </a:solidFill>
                <a:latin typeface="Aptos"/>
              </a:defRPr>
            </a:pPr>
            <a:r>
              <a:rPr lang="en-US" sz="1600" dirty="0" err="1"/>
              <a:t>GridSearchCV</a:t>
            </a:r>
            <a:r>
              <a:rPr lang="en-US" sz="1600" dirty="0"/>
              <a:t> evaluates parameter combinations using cross-validation and negative MSE as the scoring objective.</a:t>
            </a:r>
            <a:endParaRPr sz="1600" dirty="0"/>
          </a:p>
        </p:txBody>
      </p:sp>
      <p:sp>
        <p:nvSpPr>
          <p:cNvPr id="11" name="Rounded Rectangle 10"/>
          <p:cNvSpPr/>
          <p:nvPr/>
        </p:nvSpPr>
        <p:spPr>
          <a:xfrm>
            <a:off x="6126480" y="3977639"/>
            <a:ext cx="53492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0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26480" y="3977639"/>
            <a:ext cx="64008" cy="1417320"/>
          </a:xfrm>
          <a:prstGeom prst="rect">
            <a:avLst/>
          </a:prstGeom>
          <a:solidFill>
            <a:srgbClr val="34A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91072" y="4096511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F2736"/>
                </a:solidFill>
                <a:latin typeface="Aptos"/>
              </a:defRPr>
            </a:pPr>
            <a:r>
              <a:t>Selected deployment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1072" y="4480559"/>
            <a:ext cx="5029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4303A"/>
                </a:solidFill>
                <a:latin typeface="Aptos"/>
              </a:defRPr>
            </a:pPr>
            <a:r>
              <a:rPr sz="1600" dirty="0"/>
              <a:t>Random Forest was retained and refit on the full feature matrix before saving </a:t>
            </a:r>
            <a:r>
              <a:rPr sz="1600" dirty="0" err="1"/>
              <a:t>model.pkl</a:t>
            </a:r>
            <a:r>
              <a:rPr sz="1600"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9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42597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736"/>
                </a:solidFill>
                <a:latin typeface="Aptos Display"/>
              </a:defRPr>
            </a:pPr>
            <a:r>
              <a:rPr lang="en-US" dirty="0"/>
              <a:t>8</a:t>
            </a:r>
            <a:r>
              <a:rPr dirty="0"/>
              <a:t>. Model Evaluation &amp;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320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C76"/>
                </a:solidFill>
                <a:latin typeface="Aptos"/>
              </a:defRPr>
            </a:pPr>
            <a:r>
              <a:t>Random Forest achieved the strongest overall test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C76"/>
                </a:solidFill>
              </a:defRPr>
            </a:pPr>
            <a:r>
              <a:t>Bike Rental Demand Prediction  •  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325880"/>
          <a:ext cx="6400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 marL="64008" marR="64008" marT="36576" marB="36576">
                    <a:solidFill>
                      <a:srgbClr val="0F27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RMSE ↓</a:t>
                      </a:r>
                    </a:p>
                  </a:txBody>
                  <a:tcPr marL="64008" marR="64008" marT="36576" marB="36576">
                    <a:solidFill>
                      <a:srgbClr val="0F27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MAE ↓</a:t>
                      </a:r>
                    </a:p>
                  </a:txBody>
                  <a:tcPr marL="64008" marR="64008" marT="36576" marB="36576">
                    <a:solidFill>
                      <a:srgbClr val="0F27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R² ↑</a:t>
                      </a:r>
                    </a:p>
                  </a:txBody>
                  <a:tcPr marL="64008" marR="64008" marT="36576" marB="36576">
                    <a:solidFill>
                      <a:srgbClr val="0F27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4303A"/>
                          </a:solidFill>
                          <a:latin typeface="Aptos"/>
                        </a:defRPr>
                      </a:pPr>
                      <a:r>
                        <a:t>Random Forest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4303A"/>
                          </a:solidFill>
                          <a:latin typeface="Aptos"/>
                        </a:defRPr>
                      </a:pPr>
                      <a:r>
                        <a:t>41.37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4303A"/>
                          </a:solidFill>
                          <a:latin typeface="Aptos"/>
                        </a:defRPr>
                      </a:pPr>
                      <a:r>
                        <a:t>24.50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4303A"/>
                          </a:solidFill>
                          <a:latin typeface="Aptos"/>
                        </a:defRPr>
                      </a:pPr>
                      <a:r>
                        <a:t>0.9459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4303A"/>
                          </a:solidFill>
                          <a:latin typeface="Aptos"/>
                        </a:defRPr>
                      </a:pPr>
                      <a:r>
                        <a:t>Gradient Boosting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4303A"/>
                          </a:solidFill>
                          <a:latin typeface="Aptos"/>
                        </a:defRPr>
                      </a:pPr>
                      <a:r>
                        <a:t>41.91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4303A"/>
                          </a:solidFill>
                          <a:latin typeface="Aptos"/>
                        </a:defRPr>
                      </a:pPr>
                      <a:r>
                        <a:t>25.51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4303A"/>
                          </a:solidFill>
                          <a:latin typeface="Aptos"/>
                        </a:defRPr>
                      </a:pPr>
                      <a:r>
                        <a:t>0.9445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4303A"/>
                          </a:solidFill>
                          <a:latin typeface="Aptos"/>
                        </a:defRPr>
                      </a:pPr>
                      <a:r>
                        <a:t>Decision Tree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4303A"/>
                          </a:solidFill>
                          <a:latin typeface="Aptos"/>
                        </a:defRPr>
                      </a:pPr>
                      <a:r>
                        <a:t>62.55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4303A"/>
                          </a:solidFill>
                          <a:latin typeface="Aptos"/>
                        </a:defRPr>
                      </a:pPr>
                      <a:r>
                        <a:t>39.10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0">
                          <a:solidFill>
                            <a:srgbClr val="24303A"/>
                          </a:solidFill>
                          <a:latin typeface="Aptos"/>
                        </a:defRPr>
                      </a:pPr>
                      <a:r>
                        <a:t>0.8765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60920" y="141732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E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63001" y="1536192"/>
            <a:ext cx="1024639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4917D"/>
                </a:solidFill>
                <a:latin typeface="Aptos Display"/>
              </a:defRPr>
            </a:pPr>
            <a:r>
              <a:rPr dirty="0"/>
              <a:t>4</a:t>
            </a:r>
            <a:r>
              <a:rPr lang="en-US" dirty="0"/>
              <a:t>1</a:t>
            </a:r>
            <a:r>
              <a:rPr dirty="0"/>
              <a:t>.37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70648" y="2075688"/>
            <a:ext cx="16093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5F6C76"/>
                </a:solidFill>
                <a:latin typeface="Aptos"/>
              </a:defRPr>
            </a:pPr>
            <a:r>
              <a:t>lowest RMSE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72600" y="141732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E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82328" y="1536192"/>
            <a:ext cx="160934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34A87D"/>
                </a:solidFill>
                <a:latin typeface="Aptos Display"/>
              </a:defRPr>
            </a:pPr>
            <a:r>
              <a:t>24.50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82328" y="2075688"/>
            <a:ext cx="16093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5F6C76"/>
                </a:solidFill>
                <a:latin typeface="Aptos"/>
              </a:defRPr>
            </a:pPr>
            <a:r>
              <a:t>lowest MAE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278892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E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70648" y="2907791"/>
            <a:ext cx="160934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37AFBE"/>
                </a:solidFill>
                <a:latin typeface="Aptos Display"/>
              </a:defRPr>
            </a:pPr>
            <a:r>
              <a:t>0.9459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0648" y="3447287"/>
            <a:ext cx="16093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5F6C76"/>
                </a:solidFill>
                <a:latin typeface="Aptos"/>
              </a:defRPr>
            </a:pPr>
            <a:r>
              <a:t>highest R²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72600" y="2788920"/>
            <a:ext cx="18288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E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82328" y="2907791"/>
            <a:ext cx="1609344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EC843E"/>
                </a:solidFill>
                <a:latin typeface="Aptos Display"/>
              </a:defRPr>
            </a:pPr>
            <a:r>
              <a:t>≈94.6%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82328" y="3447287"/>
            <a:ext cx="16093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5F6C76"/>
                </a:solidFill>
                <a:latin typeface="Aptos"/>
              </a:defRPr>
            </a:pPr>
            <a:r>
              <a:t>variance explained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069080"/>
            <a:ext cx="1600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4303A"/>
                </a:solidFill>
              </a:defRPr>
            </a:pPr>
            <a:r>
              <a:t>Decision Tree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68880" y="4096512"/>
            <a:ext cx="7955279" cy="228600"/>
          </a:xfrm>
          <a:prstGeom prst="rect">
            <a:avLst/>
          </a:prstGeom>
          <a:solidFill>
            <a:srgbClr val="DC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468880" y="4096512"/>
            <a:ext cx="6972802" cy="228600"/>
          </a:xfrm>
          <a:prstGeom prst="rect">
            <a:avLst/>
          </a:prstGeom>
          <a:solidFill>
            <a:srgbClr val="EC8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38360" y="405079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2736"/>
                </a:solidFill>
              </a:defRPr>
            </a:pPr>
            <a:r>
              <a:t>0.8765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599432"/>
            <a:ext cx="1600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4303A"/>
                </a:solidFill>
              </a:defRPr>
            </a:pPr>
            <a:r>
              <a:t>Gradient Boosting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68880" y="4626864"/>
            <a:ext cx="7955279" cy="228600"/>
          </a:xfrm>
          <a:prstGeom prst="rect">
            <a:avLst/>
          </a:prstGeom>
          <a:solidFill>
            <a:srgbClr val="DC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468880" y="4626864"/>
            <a:ext cx="7513761" cy="228600"/>
          </a:xfrm>
          <a:prstGeom prst="rect">
            <a:avLst/>
          </a:prstGeom>
          <a:solidFill>
            <a:srgbClr val="37A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38360" y="4581144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2736"/>
                </a:solidFill>
              </a:defRPr>
            </a:pPr>
            <a:r>
              <a:t>0.9445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129784"/>
            <a:ext cx="1600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4303A"/>
                </a:solidFill>
              </a:defRPr>
            </a:pPr>
            <a:r>
              <a:t>Random Forest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68880" y="5157216"/>
            <a:ext cx="7955279" cy="228600"/>
          </a:xfrm>
          <a:prstGeom prst="rect">
            <a:avLst/>
          </a:prstGeom>
          <a:solidFill>
            <a:srgbClr val="DC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468880" y="5157216"/>
            <a:ext cx="7524899" cy="228600"/>
          </a:xfrm>
          <a:prstGeom prst="rect">
            <a:avLst/>
          </a:prstGeom>
          <a:solidFill>
            <a:srgbClr val="149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38360" y="511149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F2736"/>
                </a:solidFill>
              </a:defRPr>
            </a:pPr>
            <a:r>
              <a:t>0.9459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60920" y="4251960"/>
            <a:ext cx="4114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360920" y="4251960"/>
            <a:ext cx="64008" cy="1234440"/>
          </a:xfrm>
          <a:prstGeom prst="rect">
            <a:avLst/>
          </a:prstGeom>
          <a:solidFill>
            <a:srgbClr val="149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525512" y="4370832"/>
            <a:ext cx="3794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736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4754880"/>
            <a:ext cx="379476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4303A"/>
                </a:solidFill>
                <a:latin typeface="Aptos"/>
              </a:defRPr>
            </a:pPr>
            <a:r>
              <a:t>The Random Forest explains about 94.6% of the variance in held-out rental demand and outperforms the single Decision Tree.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9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354250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736"/>
                </a:solidFill>
                <a:latin typeface="Aptos Display"/>
              </a:defRPr>
            </a:pPr>
            <a:r>
              <a:rPr lang="en-US" dirty="0"/>
              <a:t>9</a:t>
            </a:r>
            <a:r>
              <a:rPr dirty="0"/>
              <a:t>. Feature Importance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4183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C76"/>
                </a:solidFill>
                <a:latin typeface="Aptos"/>
              </a:defRPr>
            </a:pPr>
            <a:r>
              <a:t>What the model relies on most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C76"/>
                </a:solidFill>
              </a:defRPr>
            </a:pPr>
            <a:r>
              <a:t>Bike Rental Demand Prediction  •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4303A"/>
                </a:solidFill>
              </a:defRPr>
            </a:pPr>
            <a:r>
              <a:t>Hour (hr)</a:t>
            </a:r>
          </a:p>
        </p:txBody>
      </p:sp>
      <p:sp>
        <p:nvSpPr>
          <p:cNvPr id="7" name="Rectangle 6"/>
          <p:cNvSpPr/>
          <p:nvPr/>
        </p:nvSpPr>
        <p:spPr>
          <a:xfrm>
            <a:off x="2697480" y="1362456"/>
            <a:ext cx="6217920" cy="201168"/>
          </a:xfrm>
          <a:prstGeom prst="rect">
            <a:avLst/>
          </a:prstGeom>
          <a:solidFill>
            <a:srgbClr val="DC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697480" y="1362456"/>
            <a:ext cx="4103827" cy="201168"/>
          </a:xfrm>
          <a:prstGeom prst="rect">
            <a:avLst/>
          </a:prstGeom>
          <a:solidFill>
            <a:srgbClr val="149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52560" y="1307592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0F2736"/>
                </a:solidFill>
              </a:defRPr>
            </a:pPr>
            <a:r>
              <a:t>0.66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73936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4303A"/>
                </a:solidFill>
              </a:defRPr>
            </a:pPr>
            <a:r>
              <a:t>Hour (cyclical)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80" y="1810512"/>
            <a:ext cx="6217920" cy="201168"/>
          </a:xfrm>
          <a:prstGeom prst="rect">
            <a:avLst/>
          </a:prstGeom>
          <a:solidFill>
            <a:srgbClr val="DC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697480" y="1810512"/>
            <a:ext cx="621792" cy="201168"/>
          </a:xfrm>
          <a:prstGeom prst="rect">
            <a:avLst/>
          </a:prstGeom>
          <a:solidFill>
            <a:srgbClr val="149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52560" y="1755648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0F2736"/>
                </a:solidFill>
              </a:defRPr>
            </a:pPr>
            <a:r>
              <a:t>0.10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221991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4303A"/>
                </a:solidFill>
              </a:defRPr>
            </a:pPr>
            <a:r>
              <a:t>Temperature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7480" y="2258568"/>
            <a:ext cx="6217920" cy="201168"/>
          </a:xfrm>
          <a:prstGeom prst="rect">
            <a:avLst/>
          </a:prstGeom>
          <a:solidFill>
            <a:srgbClr val="DC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697480" y="2258568"/>
            <a:ext cx="248716" cy="201168"/>
          </a:xfrm>
          <a:prstGeom prst="rect">
            <a:avLst/>
          </a:prstGeom>
          <a:solidFill>
            <a:srgbClr val="149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52560" y="2203703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0F2736"/>
                </a:solidFill>
              </a:defRPr>
            </a:pPr>
            <a:r>
              <a:t>0.04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670048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4303A"/>
                </a:solidFill>
              </a:defRPr>
            </a:pPr>
            <a:r>
              <a:t>Comfort Index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97480" y="2706624"/>
            <a:ext cx="6217920" cy="201168"/>
          </a:xfrm>
          <a:prstGeom prst="rect">
            <a:avLst/>
          </a:prstGeom>
          <a:solidFill>
            <a:srgbClr val="DC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697480" y="2706624"/>
            <a:ext cx="217627" cy="201168"/>
          </a:xfrm>
          <a:prstGeom prst="rect">
            <a:avLst/>
          </a:prstGeom>
          <a:solidFill>
            <a:srgbClr val="149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52560" y="2651760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0F2736"/>
                </a:solidFill>
              </a:defRPr>
            </a:pPr>
            <a:r>
              <a:t>0.04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118104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4303A"/>
                </a:solidFill>
              </a:defRPr>
            </a:pPr>
            <a:r>
              <a:t>Year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97480" y="3154680"/>
            <a:ext cx="6217920" cy="201168"/>
          </a:xfrm>
          <a:prstGeom prst="rect">
            <a:avLst/>
          </a:prstGeom>
          <a:solidFill>
            <a:srgbClr val="DC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697480" y="3154680"/>
            <a:ext cx="186537" cy="201168"/>
          </a:xfrm>
          <a:prstGeom prst="rect">
            <a:avLst/>
          </a:prstGeom>
          <a:solidFill>
            <a:srgbClr val="149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52560" y="3099816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0F2736"/>
                </a:solidFill>
              </a:defRPr>
            </a:pPr>
            <a:r>
              <a:t>0.03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566160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4303A"/>
                </a:solidFill>
              </a:defRPr>
            </a:pPr>
            <a:r>
              <a:t>Working Day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97480" y="3602736"/>
            <a:ext cx="6217920" cy="201168"/>
          </a:xfrm>
          <a:prstGeom prst="rect">
            <a:avLst/>
          </a:prstGeom>
          <a:solidFill>
            <a:srgbClr val="DC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697480" y="3602736"/>
            <a:ext cx="155448" cy="201168"/>
          </a:xfrm>
          <a:prstGeom prst="rect">
            <a:avLst/>
          </a:prstGeom>
          <a:solidFill>
            <a:srgbClr val="149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052560" y="3547872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0F2736"/>
                </a:solidFill>
              </a:defRPr>
            </a:pPr>
            <a:r>
              <a:t>0.03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014215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4303A"/>
                </a:solidFill>
              </a:defRPr>
            </a:pPr>
            <a:r>
              <a:t>Weekend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97480" y="4050791"/>
            <a:ext cx="6217920" cy="201168"/>
          </a:xfrm>
          <a:prstGeom prst="rect">
            <a:avLst/>
          </a:prstGeom>
          <a:solidFill>
            <a:srgbClr val="DC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697480" y="4050791"/>
            <a:ext cx="136794" cy="201168"/>
          </a:xfrm>
          <a:prstGeom prst="rect">
            <a:avLst/>
          </a:prstGeom>
          <a:solidFill>
            <a:srgbClr val="149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052560" y="3995928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0F2736"/>
                </a:solidFill>
              </a:defRPr>
            </a:pPr>
            <a:r>
              <a:t>0.02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462272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4303A"/>
                </a:solidFill>
              </a:defRPr>
            </a:pPr>
            <a:r>
              <a:t>Feels-like Temp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97480" y="4498848"/>
            <a:ext cx="6217920" cy="201168"/>
          </a:xfrm>
          <a:prstGeom prst="rect">
            <a:avLst/>
          </a:prstGeom>
          <a:solidFill>
            <a:srgbClr val="DC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697480" y="4498848"/>
            <a:ext cx="124358" cy="201168"/>
          </a:xfrm>
          <a:prstGeom prst="rect">
            <a:avLst/>
          </a:prstGeom>
          <a:solidFill>
            <a:srgbClr val="149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052560" y="4443984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0F2736"/>
                </a:solidFill>
              </a:defRPr>
            </a:pPr>
            <a:r>
              <a:t>0.02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4910328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4303A"/>
                </a:solidFill>
              </a:defRPr>
            </a:pPr>
            <a:r>
              <a:t>Non-Working Day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97480" y="4946904"/>
            <a:ext cx="6217920" cy="201168"/>
          </a:xfrm>
          <a:prstGeom prst="rect">
            <a:avLst/>
          </a:prstGeom>
          <a:solidFill>
            <a:srgbClr val="DC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2697480" y="4946904"/>
            <a:ext cx="111922" cy="201168"/>
          </a:xfrm>
          <a:prstGeom prst="rect">
            <a:avLst/>
          </a:prstGeom>
          <a:solidFill>
            <a:srgbClr val="149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052560" y="4892040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0F2736"/>
                </a:solidFill>
              </a:defRPr>
            </a:pPr>
            <a:r>
              <a:t>0.02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358384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4303A"/>
                </a:solidFill>
              </a:defRPr>
            </a:pPr>
            <a:r>
              <a:t>Other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97480" y="5394960"/>
            <a:ext cx="6217920" cy="201168"/>
          </a:xfrm>
          <a:prstGeom prst="rect">
            <a:avLst/>
          </a:prstGeom>
          <a:solidFill>
            <a:srgbClr val="DCE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2697480" y="5394960"/>
            <a:ext cx="310896" cy="201168"/>
          </a:xfrm>
          <a:prstGeom prst="rect">
            <a:avLst/>
          </a:prstGeom>
          <a:solidFill>
            <a:srgbClr val="149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052560" y="5340096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0F2736"/>
                </a:solidFill>
              </a:defRPr>
            </a:pPr>
            <a:r>
              <a:t>0.05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738360" y="1371600"/>
            <a:ext cx="169164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E0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738360" y="1371600"/>
            <a:ext cx="64008" cy="3474720"/>
          </a:xfrm>
          <a:prstGeom prst="rect">
            <a:avLst/>
          </a:prstGeom>
          <a:solidFill>
            <a:srgbClr val="149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902952" y="1490472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F2736"/>
                </a:solidFill>
                <a:latin typeface="Aptos"/>
              </a:defRPr>
            </a:pPr>
            <a:r>
              <a:t>Key insight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02952" y="1874519"/>
            <a:ext cx="1371600" cy="2852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4303A"/>
                </a:solidFill>
                <a:latin typeface="Aptos"/>
              </a:defRPr>
            </a:pPr>
            <a:r>
              <a:t>Hour of day is the dominant signal in the model. The app also presents the top 10 feature importances interactively after prediction.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1520" y="5623560"/>
            <a:ext cx="1069848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0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731520" y="5623560"/>
            <a:ext cx="64008" cy="502920"/>
          </a:xfrm>
          <a:prstGeom prst="rect">
            <a:avLst/>
          </a:prstGeom>
          <a:solidFill>
            <a:srgbClr val="37A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96112" y="5742432"/>
            <a:ext cx="10378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2736"/>
                </a:solidFill>
                <a:latin typeface="Aptos"/>
              </a:defRPr>
            </a:pPr>
            <a:r>
              <a:t>Note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96112" y="6126480"/>
            <a:ext cx="1037844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4303A"/>
                </a:solidFill>
                <a:latin typeface="Aptos"/>
              </a:defRPr>
            </a:pPr>
            <a:r>
              <a:t>Feature importance is global across the model, not a causal explanation for an individual prediction.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9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736"/>
                </a:solidFill>
                <a:latin typeface="Aptos Display"/>
              </a:defRPr>
            </a:pPr>
            <a:r>
              <a:t>11. Streamlit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6C76"/>
                </a:solidFill>
              </a:defRPr>
            </a:pPr>
            <a:r>
              <a:t>Bike Rental Demand Prediction  • 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6440" y="1325880"/>
            <a:ext cx="5486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06440" y="1325880"/>
            <a:ext cx="64008" cy="1143000"/>
          </a:xfrm>
          <a:prstGeom prst="rect">
            <a:avLst/>
          </a:prstGeom>
          <a:solidFill>
            <a:srgbClr val="149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71031" y="1444752"/>
            <a:ext cx="5166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736"/>
                </a:solidFill>
                <a:latin typeface="Aptos"/>
              </a:defRPr>
            </a:pPr>
            <a:r>
              <a:t>Inputs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71031" y="1828800"/>
            <a:ext cx="516636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4303A"/>
                </a:solidFill>
                <a:latin typeface="Aptos"/>
              </a:defRPr>
            </a:pPr>
            <a:r>
              <a:t>Date • month • hour • weekday • season • holiday • working day • weather • temperature • feels-like temperature • humidity • windspeed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2697480"/>
            <a:ext cx="5486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06440" y="2697480"/>
            <a:ext cx="64008" cy="1143000"/>
          </a:xfrm>
          <a:prstGeom prst="rect">
            <a:avLst/>
          </a:prstGeom>
          <a:solidFill>
            <a:srgbClr val="34A8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71031" y="2816352"/>
            <a:ext cx="5166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736"/>
                </a:solidFill>
                <a:latin typeface="Aptos"/>
              </a:defRPr>
            </a:pPr>
            <a:r>
              <a:t>Prediction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71031" y="3200400"/>
            <a:ext cx="516636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4303A"/>
                </a:solidFill>
                <a:latin typeface="Aptos"/>
              </a:defRPr>
            </a:pPr>
            <a:r>
              <a:t>Loads model.pkl → builds 36 features → predicts log1p(cnt) → applies expm1 → displays predicted bike demand.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06440" y="4069080"/>
            <a:ext cx="5486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0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06440" y="4069080"/>
            <a:ext cx="64008" cy="1143000"/>
          </a:xfrm>
          <a:prstGeom prst="rect">
            <a:avLst/>
          </a:prstGeom>
          <a:solidFill>
            <a:srgbClr val="37A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71031" y="4187952"/>
            <a:ext cx="5166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F2736"/>
                </a:solidFill>
                <a:latin typeface="Aptos"/>
              </a:defRPr>
            </a:pPr>
            <a:r>
              <a:t>Analytics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71031" y="4572000"/>
            <a:ext cx="516636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4303A"/>
                </a:solidFill>
                <a:latin typeface="Aptos"/>
              </a:defRPr>
            </a:pPr>
            <a:r>
              <a:t>Top influencing factors + current weather conditions + rush-hour/weekend/holiday/working-day context.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06440" y="5440679"/>
            <a:ext cx="5486400" cy="914399"/>
          </a:xfrm>
          <a:prstGeom prst="roundRect">
            <a:avLst/>
          </a:prstGeom>
          <a:solidFill>
            <a:srgbClr val="FFFFFF"/>
          </a:solidFill>
          <a:ln>
            <a:solidFill>
              <a:srgbClr val="E0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806440" y="5440680"/>
            <a:ext cx="64008" cy="685800"/>
          </a:xfrm>
          <a:prstGeom prst="rect">
            <a:avLst/>
          </a:prstGeom>
          <a:solidFill>
            <a:srgbClr val="EC84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71031" y="5559552"/>
            <a:ext cx="5166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2736"/>
                </a:solidFill>
                <a:latin typeface="Aptos"/>
              </a:defRPr>
            </a:pPr>
            <a:r>
              <a:t>Optional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71031" y="5943600"/>
            <a:ext cx="5166360" cy="6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4303A"/>
                </a:solidFill>
                <a:latin typeface="Aptos"/>
              </a:defRPr>
            </a:pPr>
            <a:r>
              <a:t>Gemini can generate a concise operational recommendation when GEMINI_API_KEY is configured.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A22220D-D73E-A7C9-AE29-CEA810425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34" y="835741"/>
            <a:ext cx="5578323" cy="575187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49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458567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736"/>
                </a:solidFill>
                <a:latin typeface="Aptos Display"/>
              </a:defRPr>
            </a:pPr>
            <a:r>
              <a:rPr lang="en-US" dirty="0"/>
              <a:t>10</a:t>
            </a:r>
            <a:r>
              <a:rPr dirty="0"/>
              <a:t>. Conclusion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4183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5F6C76"/>
                </a:solidFill>
                <a:latin typeface="Aptos"/>
              </a:defRPr>
            </a:pPr>
            <a:r>
              <a:t>From data preparation to a usable ML application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5303520" cy="3540740"/>
          </a:xfrm>
          <a:prstGeom prst="roundRect">
            <a:avLst/>
          </a:prstGeom>
          <a:solidFill>
            <a:srgbClr val="FFFFFF"/>
          </a:solidFill>
          <a:ln>
            <a:solidFill>
              <a:srgbClr val="E0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64008" cy="2103120"/>
          </a:xfrm>
          <a:prstGeom prst="rect">
            <a:avLst/>
          </a:prstGeom>
          <a:solidFill>
            <a:srgbClr val="1491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353312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736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737360"/>
            <a:ext cx="498348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4303A"/>
                </a:solidFill>
                <a:latin typeface="Aptos"/>
              </a:defRPr>
            </a:pPr>
            <a:r>
              <a:rPr sz="1600" dirty="0"/>
              <a:t>• The project transforms 17,379 hourly records into a 36-feature modeling matrix.</a:t>
            </a:r>
            <a:br>
              <a:rPr sz="1600" dirty="0"/>
            </a:br>
            <a:r>
              <a:rPr sz="1600" dirty="0"/>
              <a:t>• Feature engineering captures calendar, cyclic, weather and operational context.</a:t>
            </a:r>
            <a:br>
              <a:rPr sz="1600" dirty="0"/>
            </a:br>
            <a:r>
              <a:rPr sz="1600" dirty="0"/>
              <a:t>• Random Forest achieved the best test performance with R² ≈ 0.946.</a:t>
            </a:r>
            <a:br>
              <a:rPr sz="1600" dirty="0"/>
            </a:br>
            <a:r>
              <a:rPr sz="1600" dirty="0"/>
              <a:t>• The trained model is saved as </a:t>
            </a:r>
            <a:r>
              <a:rPr sz="1600" dirty="0" err="1"/>
              <a:t>model.pkl</a:t>
            </a:r>
            <a:r>
              <a:rPr sz="1600" dirty="0"/>
              <a:t> and integrated into a </a:t>
            </a:r>
            <a:r>
              <a:rPr sz="1600" dirty="0" err="1"/>
              <a:t>Streamlit</a:t>
            </a:r>
            <a:r>
              <a:rPr sz="1600" dirty="0"/>
              <a:t> dashboard.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34440"/>
            <a:ext cx="5257800" cy="3540740"/>
          </a:xfrm>
          <a:prstGeom prst="roundRect">
            <a:avLst/>
          </a:prstGeom>
          <a:solidFill>
            <a:srgbClr val="FFFFFF"/>
          </a:solidFill>
          <a:ln>
            <a:solidFill>
              <a:srgbClr val="E0E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234440"/>
            <a:ext cx="64008" cy="2103120"/>
          </a:xfrm>
          <a:prstGeom prst="rect">
            <a:avLst/>
          </a:prstGeom>
          <a:solidFill>
            <a:srgbClr val="37A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82512" y="1353312"/>
            <a:ext cx="4937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2736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1737360"/>
            <a:ext cx="493776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4303A"/>
                </a:solidFill>
                <a:latin typeface="Aptos"/>
              </a:defRPr>
            </a:pPr>
            <a:r>
              <a:rPr sz="1600" dirty="0"/>
              <a:t>• Add live weather/API inputs</a:t>
            </a:r>
            <a:br>
              <a:rPr sz="1600" dirty="0"/>
            </a:br>
            <a:r>
              <a:rPr sz="1600" dirty="0"/>
              <a:t>• Add station-level predictions</a:t>
            </a:r>
            <a:br>
              <a:rPr sz="1600" dirty="0"/>
            </a:br>
            <a:r>
              <a:rPr sz="1600" dirty="0"/>
              <a:t>• Add demand forecasting across multiple future hours</a:t>
            </a:r>
            <a:br>
              <a:rPr sz="1600" dirty="0"/>
            </a:br>
            <a:r>
              <a:rPr sz="1600" dirty="0"/>
              <a:t>• Add model monitoring and retraining</a:t>
            </a:r>
            <a:br>
              <a:rPr sz="1600" dirty="0"/>
            </a:br>
            <a:r>
              <a:rPr sz="1600" dirty="0"/>
              <a:t>• Add richer operational recommendations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577840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F2736"/>
                </a:solidFill>
                <a:latin typeface="Aptos Display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1235</Words>
  <Application>Microsoft Office PowerPoint</Application>
  <PresentationFormat>Widescreen</PresentationFormat>
  <Paragraphs>193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rahul salvi</cp:lastModifiedBy>
  <cp:revision>10</cp:revision>
  <dcterms:created xsi:type="dcterms:W3CDTF">2013-01-27T09:14:16Z</dcterms:created>
  <dcterms:modified xsi:type="dcterms:W3CDTF">2026-08-31T10:26:37Z</dcterms:modified>
  <cp:category/>
</cp:coreProperties>
</file>